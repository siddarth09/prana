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OpenVLA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Vision-Language-Action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Transformers in CV to Physical AI for Robotics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Siddarth  |  EECE 5639: Computer Vision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Pertsch, Karamcheti et al.  |  Stanford / Berkeley / TRI  |  CoRL 2025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1371600"/>
            <a:ext cx="1828800" cy="1828800"/>
          </a:xfrm>
          <a:prstGeom prst="rect">
            <a:avLst/>
          </a:prstGeom>
          <a:solidFill>
            <a:srgbClr val="6C63FF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0" y="1645920"/>
            <a:ext cx="1463040" cy="1280160"/>
          </a:xfrm>
          <a:prstGeom prst="rect">
            <a:avLst/>
          </a:prstGeom>
          <a:solidFill>
            <a:srgbClr val="00D4AA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1645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13232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02920" cy="502920"/>
          </a:xfrm>
          <a:prstGeom prst="ellipse">
            <a:avLst/>
          </a:prstGeom>
          <a:solidFill>
            <a:srgbClr val="6C63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170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Transformers to VLAs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490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CV building blocks enable robot intelligence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502920" cy="502920"/>
          </a:xfrm>
          <a:prstGeom prst="ellipse">
            <a:avLst/>
          </a:prstGeom>
          <a:solidFill>
            <a:srgbClr val="00D4AA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920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240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RT-2, Octo, and the rise of generalist policies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688336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88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670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OpenVLA Architecture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990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encoders, LLM backbone, and action tokenization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438144"/>
            <a:ext cx="502920" cy="502920"/>
          </a:xfrm>
          <a:prstGeom prst="ellipse">
            <a:avLst/>
          </a:prstGeom>
          <a:solidFill>
            <a:srgbClr val="FFA726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38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A7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41985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&amp; Results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7398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Cross-embodiment benchmarks and fine-tuning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187952"/>
            <a:ext cx="502920" cy="502920"/>
          </a:xfrm>
          <a:prstGeom prst="ellipse">
            <a:avLst/>
          </a:prstGeom>
          <a:solidFill>
            <a:srgbClr val="FF6B6B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16966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Takeaways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44897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for VLAs in physical AI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Transformers to VLAs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you already know power the next frontier of robotics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920240" cy="237744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/ Attention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embeddings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image understanding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1920240" cy="237744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463040"/>
            <a:ext cx="1920240" cy="5486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21945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Language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(LLaVA,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PaLI, Prismatic)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1920240" cy="237744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63040"/>
            <a:ext cx="192024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21945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VLMs fine-tuned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 robot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as tokens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1463040"/>
            <a:ext cx="1920240" cy="237744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463040"/>
            <a:ext cx="192024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40880" y="21945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Generalist robot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for real-world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E9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2628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E9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75120" y="2286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E9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160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The same transformer attention mechanism from ViTs and BERT now drives robot decision-making by treating actions as just another token modality.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Related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RT-2 / RT-2-X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DeepMind, 2023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55B-parameter VLA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PaLI-X VLM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Closed-source, limited access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VLA paradigm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51760" cy="347472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97280"/>
            <a:ext cx="2651760" cy="54864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Berkeley, 2024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21031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93M param generalist policy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+ diffusion head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Open X-Embodiment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VLM pretraining backbone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51760" cy="347472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OpenVLA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Stanford/Berkeley/TRI, 2024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10312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params, open-source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VLM backbone (Prismatic)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RT-2-X by 16.5%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fine-tuning + quantization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OpenVLA bridges the gap: the first open-source VLA to match or exceed closed models at a fraction of the parameter count.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OpenVLA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components working end-to-end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371600" cy="109728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13716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6002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E9EB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011680" y="1234440"/>
            <a:ext cx="2103120" cy="182880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0" y="1234440"/>
            <a:ext cx="210312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Vision Encoder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94560" y="1828800"/>
            <a:ext cx="868680" cy="731520"/>
          </a:xfrm>
          <a:prstGeom prst="rect">
            <a:avLst/>
          </a:prstGeom>
          <a:solidFill>
            <a:srgbClr val="1E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2194560" y="18288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(semantic)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828800"/>
            <a:ext cx="868680" cy="731520"/>
          </a:xfrm>
          <a:prstGeom prst="rect">
            <a:avLst/>
          </a:prstGeom>
          <a:solidFill>
            <a:srgbClr val="1E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8288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(spatial)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Concatenated patch tokens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E9EB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480560" y="1508760"/>
            <a:ext cx="1188720" cy="100584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508760"/>
            <a:ext cx="1188720" cy="4572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20" name="Text 18"/>
          <p:cNvSpPr/>
          <p:nvPr/>
        </p:nvSpPr>
        <p:spPr>
          <a:xfrm>
            <a:off x="4480560" y="16459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E9EB8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035040" y="1234440"/>
            <a:ext cx="2011680" cy="182880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234440"/>
            <a:ext cx="20116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2 7B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17830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[vision, language,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action] token sequence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3291840"/>
            <a:ext cx="201168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action should the robot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to pick up the spoon?”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3063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E9EB8"/>
                </a:solidFill>
              </a:rPr>
              <a:t>↑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29600" y="1691640"/>
            <a:ext cx="54864" cy="6400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AA"/>
                </a:solidFill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321040" y="1463040"/>
            <a:ext cx="731520" cy="1097280"/>
          </a:xfrm>
          <a:prstGeom prst="rect">
            <a:avLst/>
          </a:prstGeom>
          <a:solidFill>
            <a:srgbClr val="0D2D26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146304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160520"/>
            <a:ext cx="8229600" cy="45720"/>
          </a:xfrm>
          <a:prstGeom prst="rect">
            <a:avLst/>
          </a:prstGeom>
          <a:solidFill>
            <a:srgbClr val="3A3A50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343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Patch-as-Token: </a:t>
            </a:r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patches become tokens in the LLM sequence, same as word tokens.  Actions are discretized into 256 bins per dimension and predicted autoregressively.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Fused Vision Encoder: Why Two Backbones?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256032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2560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SigLIP  (ViT-SO400M)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Sigmoid-loss contrastive pretraining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image patches with language semantics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what objects are in the scene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language grounding in VLAs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256032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73152" cy="2560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 (ViT-L/14)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Understanding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21031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ViT (no text supervision)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fine-grained spatial features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where things are in the scene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precise robotic manipulation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Strategy:  </a:t>
            </a:r>
            <a:pPr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encoders process the same 224×224 image. Patch embeddings from both are concatenated along the feature dimension before being projected into the LLM's embedding space via a 2-layer MLP. This gives the model both semantic and spatial awareness.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 Tokenization: Treating Actions as Language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377440" cy="164592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37744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7-DoF robot action: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Δx, Δy, Δz,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Δroll, Δpitch, Δyaw,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gripper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E9EB8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0" y="1280160"/>
            <a:ext cx="2560320" cy="164592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80160"/>
            <a:ext cx="2560320" cy="4572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Discretize into 256 Bins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8288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continuous dimension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uniformly quantized into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discrete tokens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LLM vocabulary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(token IDs 0–255)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E9EB8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560320" cy="164592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80160"/>
            <a:ext cx="256032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Decoding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predicts each action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sequentially: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a₁ → a₂ → ... → a₇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cross-entropy loss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language generation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Sequence Fed to Llama 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640080" cy="502920"/>
          </a:xfrm>
          <a:prstGeom prst="rect">
            <a:avLst/>
          </a:prstGeom>
          <a:solidFill>
            <a:srgbClr val="3B82F6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94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1148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1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371600" y="3794760"/>
            <a:ext cx="640080" cy="502920"/>
          </a:xfrm>
          <a:prstGeom prst="rect">
            <a:avLst/>
          </a:prstGeom>
          <a:solidFill>
            <a:srgbClr val="3B82F6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3794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71600" y="41148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2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103120" y="3794760"/>
            <a:ext cx="365760" cy="502920"/>
          </a:xfrm>
          <a:prstGeom prst="rect">
            <a:avLst/>
          </a:prstGeom>
          <a:solidFill>
            <a:srgbClr val="3A3A50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103120" y="3794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0" y="3794760"/>
            <a:ext cx="640080" cy="502920"/>
          </a:xfrm>
          <a:prstGeom prst="rect">
            <a:avLst/>
          </a:prstGeom>
          <a:solidFill>
            <a:srgbClr val="3B82F6">
              <a:alpha val="2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560320" y="3794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60320" y="41148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291840" y="3794760"/>
            <a:ext cx="594360" cy="502920"/>
          </a:xfrm>
          <a:prstGeom prst="rect">
            <a:avLst/>
          </a:prstGeom>
          <a:solidFill>
            <a:srgbClr val="6C63FF">
              <a:alpha val="2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37947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91840" y="41148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977640" y="3794760"/>
            <a:ext cx="685800" cy="502920"/>
          </a:xfrm>
          <a:prstGeom prst="rect">
            <a:avLst/>
          </a:prstGeom>
          <a:solidFill>
            <a:srgbClr val="6C63FF">
              <a:alpha val="2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977640" y="379476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77640" y="4114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754880" y="3794760"/>
            <a:ext cx="365760" cy="502920"/>
          </a:xfrm>
          <a:prstGeom prst="rect">
            <a:avLst/>
          </a:prstGeom>
          <a:solidFill>
            <a:srgbClr val="3A3A50">
              <a:alpha val="2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3794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12080" y="3794760"/>
            <a:ext cx="502920" cy="502920"/>
          </a:xfrm>
          <a:prstGeom prst="rect">
            <a:avLst/>
          </a:prstGeom>
          <a:solidFill>
            <a:srgbClr val="00D4AA">
              <a:alpha val="2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3794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a₁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0" y="41148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Δx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806440" y="3794760"/>
            <a:ext cx="502920" cy="502920"/>
          </a:xfrm>
          <a:prstGeom prst="rect">
            <a:avLst/>
          </a:prstGeom>
          <a:solidFill>
            <a:srgbClr val="00D4AA">
              <a:alpha val="2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806440" y="3794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a₂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06440" y="41148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Δy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00800" y="3794760"/>
            <a:ext cx="502920" cy="502920"/>
          </a:xfrm>
          <a:prstGeom prst="rect">
            <a:avLst/>
          </a:prstGeom>
          <a:solidFill>
            <a:srgbClr val="00D4AA">
              <a:alpha val="2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3794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a₃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0" y="41148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Δz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995160" y="3794760"/>
            <a:ext cx="365760" cy="502920"/>
          </a:xfrm>
          <a:prstGeom prst="rect">
            <a:avLst/>
          </a:prstGeom>
          <a:solidFill>
            <a:srgbClr val="3A3A50">
              <a:alpha val="2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995160" y="3794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452360" y="3794760"/>
            <a:ext cx="502920" cy="502920"/>
          </a:xfrm>
          <a:prstGeom prst="rect">
            <a:avLst/>
          </a:prstGeom>
          <a:solidFill>
            <a:srgbClr val="00D4AA">
              <a:alpha val="2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7452360" y="37947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a₇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452360" y="41148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40080" y="43891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only on action tokens (a₁...a₇) — vision and language tokens are input-only during training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Training: Data &amp; Procedure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29184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2918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X-Embodiment Dataset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970K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0" y="18562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episodes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286000" y="2633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domains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A7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286000" y="34107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embodiments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WidowX, Franka, Google Robot,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platforms, and more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097280"/>
            <a:ext cx="3840480" cy="329184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97280"/>
            <a:ext cx="73152" cy="3291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Details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12080" y="16916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A100 GPUs for 14 days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epochs (more than typical LLM training)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learning rate: 2e-5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2048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fine-tuning of full VLM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 on action tokens only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 + data reweighting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until &gt;95% action token accuracy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training: (1) VLM pretraining on internet vision-language data  →  (2) VLA fine-tuning on robot demonstration data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Experiments &amp;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+16.5%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success rate over RT-2-X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29 tasks, multiple embodiments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vs 55B parameters (7x smaller)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+20.4%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Diffusion Policy (multi-task)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language grounding abilities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multi-object environments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Platforms &amp; Fine-Tuning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438912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474720"/>
            <a:ext cx="54864" cy="43891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747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WidowX (BridgeData V2)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4747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tasks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47472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Octo &amp; RT-2-X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43891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977640"/>
            <a:ext cx="54864" cy="43891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9776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Robot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9776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tasks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9776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among VLAs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8229600" cy="438912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480560"/>
            <a:ext cx="54864" cy="43891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4805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Franka (fine-tuned)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44805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tasks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448056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Diffusion Policy +20.4%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Compute-Efficient Adaptation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VLAs accessible on consumer hardware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56032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Adaptation (rank 32)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trains ~7% of parameters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on a single consumer GPU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full fine-tuning performance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HuggingFace support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56032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71600"/>
            <a:ext cx="393192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Inference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201168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quantization: no performance loss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half the GPU memory required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3Hz inference on NVIDIA A5000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quantization: performance drops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1.2Hz — system dynamics mismatch)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pPr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quantization is the sweet spot. It nearly halves memory requirements while maintaining the same real-world success rate as full bfloat16 inference. The bottleneck with 8-bit is inference speed, not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Limitations &amp; Open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41732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417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Gap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rates typically &lt;90% even on trained tasks. Not yet reliable enough for production deployment without human oversight.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41732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73152" cy="141732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decoding of 7 action tokens introduces latency. At 3Hz, real-time dexterous control is limited compared to specialized policies.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31920" cy="141732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43200"/>
            <a:ext cx="73152" cy="1417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52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Single-Image Input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2004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processes single RGB frames. No temporal/history encoding, depth information, or proprioceptive state. Limits complex multi-step reasoning.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3931920" cy="141732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43200"/>
            <a:ext cx="73152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852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Questions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32004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VLM size improve VLA performance? Does co-training on internet + robot data help? Which visual features are best? All remain underexplored.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9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limitations motivate follow-up work like OpenVLA-OFT (2025), which addresses fine-tuning speed and dexterity.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49808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7498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43584"/>
            <a:ext cx="457200" cy="457200"/>
          </a:xfrm>
          <a:prstGeom prst="ellipse">
            <a:avLst/>
          </a:prstGeom>
          <a:solidFill>
            <a:srgbClr val="6C63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43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17043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 are the natural evolution of transformers in vision: the same attention mechanism that powers ViTs and VLMs now directly controls robots.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749808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11680"/>
            <a:ext cx="73152" cy="749808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157984"/>
            <a:ext cx="457200" cy="457200"/>
          </a:xfrm>
          <a:prstGeom prst="ellipse">
            <a:avLst/>
          </a:prstGeom>
          <a:solidFill>
            <a:srgbClr val="00D4AA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08483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OpenVLA proves that open-source VLAs can outperform closed 55B-parameter models at 7x fewer parameters, democratizing physical AI research.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749808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926080"/>
            <a:ext cx="73152" cy="7498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072384"/>
            <a:ext cx="457200" cy="457200"/>
          </a:xfrm>
          <a:prstGeom prst="ellipse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299923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 encoder design (SigLIP + DINOv2) shows that combining semantic and spatial features is critical for robotic manipulation.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749808"/>
          </a:xfrm>
          <a:prstGeom prst="rect">
            <a:avLst/>
          </a:prstGeom>
          <a:solidFill>
            <a:srgbClr val="14141F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840480"/>
            <a:ext cx="73152" cy="749808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986784"/>
            <a:ext cx="457200" cy="457200"/>
          </a:xfrm>
          <a:prstGeom prst="ellipse">
            <a:avLst/>
          </a:prstGeom>
          <a:solidFill>
            <a:srgbClr val="FFA726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A7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391363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adaptation (LoRA + 4-bit quantization) makes large VLAs practical on consumer GPUs, lowering the barrier for real-world deployment.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8229600" cy="4572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6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  —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OpenVLA: An Open-Source Vision-Language-Action Model</dc:title>
  <dc:subject>PptxGenJS Presentation</dc:subject>
  <dc:creator>Siddarth</dc:creator>
  <cp:lastModifiedBy>Siddarth</cp:lastModifiedBy>
  <cp:revision>1</cp:revision>
  <dcterms:created xsi:type="dcterms:W3CDTF">2026-04-10T16:28:35Z</dcterms:created>
  <dcterms:modified xsi:type="dcterms:W3CDTF">2026-04-10T16:28:35Z</dcterms:modified>
</cp:coreProperties>
</file>